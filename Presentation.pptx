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elegraf Bold" charset="1" panose="00000800000000000000"/>
      <p:regular r:id="rId11"/>
    </p:embeddedFont>
    <p:embeddedFont>
      <p:font typeface="Telegraf" charset="1" panose="00000500000000000000"/>
      <p:regular r:id="rId12"/>
    </p:embeddedFont>
    <p:embeddedFont>
      <p:font typeface="Telegraf Extra-Light" charset="1" panose="000003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7862">
            <a:off x="6110388" y="5304279"/>
            <a:ext cx="15048401" cy="6376760"/>
          </a:xfrm>
          <a:custGeom>
            <a:avLst/>
            <a:gdLst/>
            <a:ahLst/>
            <a:cxnLst/>
            <a:rect r="r" b="b" t="t" l="l"/>
            <a:pathLst>
              <a:path h="6376760" w="15048401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2478" y="7009521"/>
            <a:ext cx="9637365" cy="212578"/>
            <a:chOff x="0" y="0"/>
            <a:chExt cx="2538236" cy="559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8236" cy="55988"/>
            </a:xfrm>
            <a:custGeom>
              <a:avLst/>
              <a:gdLst/>
              <a:ahLst/>
              <a:cxnLst/>
              <a:rect r="r" b="b" t="t" l="l"/>
              <a:pathLst>
                <a:path h="55988" w="2538236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-641393" y="-1165054"/>
            <a:ext cx="6732105" cy="4030848"/>
          </a:xfrm>
          <a:custGeom>
            <a:avLst/>
            <a:gdLst/>
            <a:ahLst/>
            <a:cxnLst/>
            <a:rect r="r" b="b" t="t" l="l"/>
            <a:pathLst>
              <a:path h="4030848" w="6732105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043903"/>
            <a:ext cx="15930431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b="true" sz="12000" spc="60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838581"/>
            <a:ext cx="17259300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spc="6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FOG AND EDGE COMPUTING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032284"/>
            <a:ext cx="255402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61206" y="8032284"/>
            <a:ext cx="3928552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Muzammil Sarwar  x24212857</a:t>
            </a:r>
          </a:p>
        </p:txBody>
      </p:sp>
      <p:grpSp>
        <p:nvGrpSpPr>
          <p:cNvPr name="Group 11" id="11"/>
          <p:cNvGrpSpPr/>
          <p:nvPr/>
        </p:nvGrpSpPr>
        <p:grpSpPr>
          <a:xfrm rot="5400000">
            <a:off x="12742276" y="-5341984"/>
            <a:ext cx="643045" cy="12669823"/>
            <a:chOff x="0" y="0"/>
            <a:chExt cx="169362" cy="33369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9362" cy="3336908"/>
            </a:xfrm>
            <a:custGeom>
              <a:avLst/>
              <a:gdLst/>
              <a:ahLst/>
              <a:cxnLst/>
              <a:rect r="r" b="b" t="t" l="l"/>
              <a:pathLst>
                <a:path h="333690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3252227"/>
                  </a:lnTo>
                  <a:cubicBezTo>
                    <a:pt x="169362" y="3274686"/>
                    <a:pt x="160440" y="3296225"/>
                    <a:pt x="144559" y="3312106"/>
                  </a:cubicBezTo>
                  <a:cubicBezTo>
                    <a:pt x="128678" y="3327986"/>
                    <a:pt x="107140" y="3336908"/>
                    <a:pt x="84681" y="3336908"/>
                  </a:cubicBezTo>
                  <a:lnTo>
                    <a:pt x="84681" y="3336908"/>
                  </a:lnTo>
                  <a:cubicBezTo>
                    <a:pt x="37913" y="3336908"/>
                    <a:pt x="0" y="3298995"/>
                    <a:pt x="0" y="325222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69362" cy="3394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704575" y="783695"/>
            <a:ext cx="300194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MSC. Cloud Computing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67703" y="783695"/>
            <a:ext cx="219159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76106" y="783695"/>
            <a:ext cx="219159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NCI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4366" y="-196806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08865" y="-392510"/>
            <a:ext cx="7501837" cy="11072020"/>
            <a:chOff x="0" y="0"/>
            <a:chExt cx="1975792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793" cy="2916088"/>
            </a:xfrm>
            <a:custGeom>
              <a:avLst/>
              <a:gdLst/>
              <a:ahLst/>
              <a:cxnLst/>
              <a:rect r="r" b="b" t="t" l="l"/>
              <a:pathLst>
                <a:path h="2916088" w="1975793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31877" y="633234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988633" y="-146732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59298" y="1559100"/>
            <a:ext cx="8403819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9298" y="2886792"/>
            <a:ext cx="9506692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SMART CAMPUS ENVIRONMENTAL MONITORING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59298" y="4953000"/>
            <a:ext cx="8115300" cy="300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99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Sensor types: Temperature, Humidity, CO2, Light</a:t>
            </a:r>
          </a:p>
          <a:p>
            <a:pPr algn="l" marL="410211" indent="-205106" lvl="1">
              <a:lnSpc>
                <a:spcPts val="399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Simulates campus sensors in the edge layer</a:t>
            </a:r>
          </a:p>
          <a:p>
            <a:pPr algn="l" marL="410211" indent="-205106" lvl="1">
              <a:lnSpc>
                <a:spcPts val="399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Processes telemetry in a virtual fog layer</a:t>
            </a:r>
          </a:p>
          <a:p>
            <a:pPr algn="l" marL="410211" indent="-205106" lvl="1">
              <a:lnSpc>
                <a:spcPts val="399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Publishes and stores aggregates for dashboard analytics</a:t>
            </a:r>
          </a:p>
          <a:p>
            <a:pPr algn="l" marL="410211" indent="-205106" lvl="1">
              <a:lnSpc>
                <a:spcPts val="399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 user facing dashboard consuming data from REST API</a:t>
            </a:r>
          </a:p>
          <a:p>
            <a:pPr algn="l">
              <a:lnSpc>
                <a:spcPts val="399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120312">
            <a:off x="-2273262" y="833153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8865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69338" y="2082771"/>
            <a:ext cx="9837601" cy="361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HIGH-LEVEL ARCHITECTURE</a:t>
            </a:r>
          </a:p>
          <a:p>
            <a:pPr algn="l">
              <a:lnSpc>
                <a:spcPts val="90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529423" y="-580405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9338" y="4581023"/>
            <a:ext cx="10245330" cy="495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Flow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EventBridge (Triggers) → 4x Edge Lambdas → SQS (With DLQ)  → Fog Lambda → IoT Core + S3-hosted dashboard → API Gateway → API Lambda → DynamoDB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Queue decouples edge and fog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Lambda provides elastic scaling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DynamoDB to store both fog state and aggregations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Fog Layer: validate → filter → smooth → window aggregate → emit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Publish aggregate payloads to IoT Core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Persist data to DynamoDB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Backend REST Server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FastAPI (python) on Lambda via Mangum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Dashboard application</a:t>
            </a:r>
          </a:p>
          <a:p>
            <a:pPr algn="l" marL="863601" indent="-287867" lvl="2">
              <a:lnSpc>
                <a:spcPts val="28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Frontend (React + Vite + Tailwind): SPA hosted on S3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9950507" y="7177426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410460">
            <a:off x="1935723" y="-5126712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64408" y="-882202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164B82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87624" y="400259"/>
            <a:ext cx="7472598" cy="9486482"/>
            <a:chOff x="0" y="0"/>
            <a:chExt cx="1968092" cy="2498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8091" cy="2498497"/>
            </a:xfrm>
            <a:custGeom>
              <a:avLst/>
              <a:gdLst/>
              <a:ahLst/>
              <a:cxnLst/>
              <a:rect r="r" b="b" t="t" l="l"/>
              <a:pathLst>
                <a:path h="2498497" w="1968091">
                  <a:moveTo>
                    <a:pt x="33153" y="0"/>
                  </a:moveTo>
                  <a:lnTo>
                    <a:pt x="1934938" y="0"/>
                  </a:lnTo>
                  <a:cubicBezTo>
                    <a:pt x="1943731" y="0"/>
                    <a:pt x="1952164" y="3493"/>
                    <a:pt x="1958381" y="9710"/>
                  </a:cubicBezTo>
                  <a:cubicBezTo>
                    <a:pt x="1964598" y="15928"/>
                    <a:pt x="1968091" y="24361"/>
                    <a:pt x="1968091" y="33153"/>
                  </a:cubicBezTo>
                  <a:lnTo>
                    <a:pt x="1968091" y="2465344"/>
                  </a:lnTo>
                  <a:cubicBezTo>
                    <a:pt x="1968091" y="2474137"/>
                    <a:pt x="1964598" y="2482569"/>
                    <a:pt x="1958381" y="2488787"/>
                  </a:cubicBezTo>
                  <a:cubicBezTo>
                    <a:pt x="1952164" y="2495004"/>
                    <a:pt x="1943731" y="2498497"/>
                    <a:pt x="1934938" y="2498497"/>
                  </a:cubicBezTo>
                  <a:lnTo>
                    <a:pt x="33153" y="2498497"/>
                  </a:lnTo>
                  <a:cubicBezTo>
                    <a:pt x="24361" y="2498497"/>
                    <a:pt x="15928" y="2495004"/>
                    <a:pt x="9710" y="2488787"/>
                  </a:cubicBezTo>
                  <a:cubicBezTo>
                    <a:pt x="3493" y="2482569"/>
                    <a:pt x="0" y="2474137"/>
                    <a:pt x="0" y="2465344"/>
                  </a:cubicBezTo>
                  <a:lnTo>
                    <a:pt x="0" y="33153"/>
                  </a:lnTo>
                  <a:cubicBezTo>
                    <a:pt x="0" y="24361"/>
                    <a:pt x="3493" y="15928"/>
                    <a:pt x="9710" y="9710"/>
                  </a:cubicBezTo>
                  <a:cubicBezTo>
                    <a:pt x="15928" y="3493"/>
                    <a:pt x="24361" y="0"/>
                    <a:pt x="331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68092" cy="255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634042" y="723588"/>
            <a:ext cx="6579761" cy="8839825"/>
          </a:xfrm>
          <a:custGeom>
            <a:avLst/>
            <a:gdLst/>
            <a:ahLst/>
            <a:cxnLst/>
            <a:rect r="r" b="b" t="t" l="l"/>
            <a:pathLst>
              <a:path h="8839825" w="6579761">
                <a:moveTo>
                  <a:pt x="0" y="0"/>
                </a:moveTo>
                <a:lnTo>
                  <a:pt x="6579761" y="0"/>
                </a:lnTo>
                <a:lnTo>
                  <a:pt x="6579761" y="8839824"/>
                </a:lnTo>
                <a:lnTo>
                  <a:pt x="0" y="883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33" r="0" b="-503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28310" y="6209713"/>
            <a:ext cx="8431381" cy="5040459"/>
            <a:chOff x="0" y="0"/>
            <a:chExt cx="2220611" cy="1327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611" cy="1327528"/>
            </a:xfrm>
            <a:custGeom>
              <a:avLst/>
              <a:gdLst/>
              <a:ahLst/>
              <a:cxnLst/>
              <a:rect r="r" b="b" t="t" l="l"/>
              <a:pathLst>
                <a:path h="1327528" w="2220611">
                  <a:moveTo>
                    <a:pt x="0" y="0"/>
                  </a:moveTo>
                  <a:lnTo>
                    <a:pt x="2220611" y="0"/>
                  </a:lnTo>
                  <a:lnTo>
                    <a:pt x="2220611" y="1327528"/>
                  </a:lnTo>
                  <a:lnTo>
                    <a:pt x="0" y="132752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20611" cy="1384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60705">
            <a:off x="1423346" y="-1948290"/>
            <a:ext cx="15441309" cy="6543255"/>
          </a:xfrm>
          <a:custGeom>
            <a:avLst/>
            <a:gdLst/>
            <a:ahLst/>
            <a:cxnLst/>
            <a:rect r="r" b="b" t="t" l="l"/>
            <a:pathLst>
              <a:path h="6543255" w="15441309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1043" y="4898687"/>
            <a:ext cx="9445915" cy="131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b="true" sz="933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0997" y="8321420"/>
            <a:ext cx="4966006" cy="9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Muzammil Sarwar</a:t>
            </a:r>
          </a:p>
          <a:p>
            <a:pPr algn="ctr">
              <a:lnSpc>
                <a:spcPts val="2328"/>
              </a:lnSpc>
            </a:pPr>
            <a:r>
              <a:rPr lang="en-US" sz="240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x24282157</a:t>
            </a:r>
          </a:p>
          <a:p>
            <a:pPr algn="ctr">
              <a:lnSpc>
                <a:spcPts val="2328"/>
              </a:lnSpc>
            </a:pPr>
            <a:r>
              <a:rPr lang="en-US" sz="240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NCI - MSC Cloud Computing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0997" y="7361880"/>
            <a:ext cx="4966006" cy="34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Fog and Edge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DAHGljGaQk8</dc:identifier>
  <dcterms:modified xsi:type="dcterms:W3CDTF">2011-08-01T06:04:30Z</dcterms:modified>
  <cp:revision>1</cp:revision>
  <dc:title>Fog and Edge Computing - Project Review</dc:title>
</cp:coreProperties>
</file>